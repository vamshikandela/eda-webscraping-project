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80" r:id="rId5"/>
    <p:sldId id="260" r:id="rId6"/>
    <p:sldId id="269" r:id="rId7"/>
    <p:sldId id="304" r:id="rId8"/>
    <p:sldId id="293" r:id="rId9"/>
    <p:sldId id="301" r:id="rId10"/>
    <p:sldId id="281" r:id="rId11"/>
    <p:sldId id="285" r:id="rId12"/>
    <p:sldId id="282" r:id="rId13"/>
    <p:sldId id="287" r:id="rId14"/>
    <p:sldId id="288" r:id="rId15"/>
    <p:sldId id="283" r:id="rId16"/>
    <p:sldId id="291" r:id="rId17"/>
    <p:sldId id="289" r:id="rId18"/>
    <p:sldId id="294" r:id="rId19"/>
    <p:sldId id="295" r:id="rId20"/>
    <p:sldId id="290" r:id="rId21"/>
    <p:sldId id="296" r:id="rId22"/>
    <p:sldId id="297" r:id="rId23"/>
    <p:sldId id="302" r:id="rId24"/>
    <p:sldId id="284" r:id="rId25"/>
    <p:sldId id="298" r:id="rId26"/>
    <p:sldId id="299" r:id="rId27"/>
    <p:sldId id="300" r:id="rId28"/>
    <p:sldId id="303" r:id="rId29"/>
    <p:sldId id="279" r:id="rId30"/>
    <p:sldId id="259" r:id="rId31"/>
  </p:sldIdLst>
  <p:sldSz cx="12192000" cy="6858000"/>
  <p:notesSz cx="6858000" cy="9144000"/>
  <p:embeddedFontLst>
    <p:embeddedFont>
      <p:font typeface="Lato Black" panose="020F0502020204030203" pitchFamily="34" charset="0"/>
      <p:bold r:id="rId33"/>
      <p:boldItalic r:id="rId34"/>
    </p:embeddedFont>
    <p:embeddedFont>
      <p:font typeface="Libre Baskerville" panose="02000000000000000000" pitchFamily="2" charset="0"/>
      <p:regular r:id="rId35"/>
      <p:bold r:id="rId36"/>
      <p: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49" autoAdjust="0"/>
    <p:restoredTop sz="94660"/>
  </p:normalViewPr>
  <p:slideViewPr>
    <p:cSldViewPr snapToGrid="0">
      <p:cViewPr varScale="1">
        <p:scale>
          <a:sx n="83" d="100"/>
          <a:sy n="83" d="100"/>
        </p:scale>
        <p:origin x="381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1924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06105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5139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51854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inkedin.com/in/kandela-vamshi-2b4457258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Vamshikandela/Vamshikandela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163902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1719489" y="3813889"/>
            <a:ext cx="839686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r>
              <a:rPr lang="en-IN" sz="2400" b="1" dirty="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rPr>
              <a:t>Leveraging Climate Data To Optimize Travel Recommendation</a:t>
            </a:r>
            <a:endParaRPr sz="2400" b="1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A1902E-197C-F6A0-FF45-07B5DBBAF7EF}"/>
              </a:ext>
            </a:extLst>
          </p:cNvPr>
          <p:cNvSpPr txBox="1"/>
          <p:nvPr/>
        </p:nvSpPr>
        <p:spPr>
          <a:xfrm>
            <a:off x="6928701" y="5151258"/>
            <a:ext cx="5262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KANDELA VAMSHI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436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12241" y="1201407"/>
            <a:ext cx="9832423" cy="4911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55600" indent="-342900">
              <a:lnSpc>
                <a:spcPts val="2870"/>
              </a:lnSpc>
              <a:spcBef>
                <a:spcPts val="105"/>
              </a:spcBef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IN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Kandela</a:t>
            </a:r>
            <a:r>
              <a:rPr lang="en-IN"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Vamshi</a:t>
            </a:r>
          </a:p>
          <a:p>
            <a:pPr marL="355600" indent="-342900">
              <a:lnSpc>
                <a:spcPts val="2870"/>
              </a:lnSpc>
              <a:spcBef>
                <a:spcPts val="105"/>
              </a:spcBef>
              <a:buFont typeface="Wingdings" panose="05000000000000000000" pitchFamily="2" charset="2"/>
              <a:buChar char="q"/>
              <a:tabLst>
                <a:tab pos="337185" algn="l"/>
              </a:tabLst>
            </a:pP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70"/>
              </a:lnSpc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  <a:r>
              <a:rPr lang="en-IN" sz="2400" b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12700" lvl="1">
              <a:lnSpc>
                <a:spcPts val="2870"/>
              </a:lnSpc>
              <a:tabLst>
                <a:tab pos="337185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 pursuing a Master of Computer Applications from  NRIM College </a:t>
            </a:r>
          </a:p>
          <a:p>
            <a:pPr marL="12700" lvl="1">
              <a:lnSpc>
                <a:spcPts val="2870"/>
              </a:lnSpc>
              <a:tabLst>
                <a:tab pos="337185" algn="l"/>
              </a:tabLst>
            </a:pPr>
            <a:endParaRPr lang="en-IN" sz="24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65"/>
              </a:lnSpc>
              <a:spcBef>
                <a:spcPts val="45"/>
              </a:spcBef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Profile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699">
              <a:lnSpc>
                <a:spcPts val="2735"/>
              </a:lnSpc>
              <a:tabLst>
                <a:tab pos="413384" algn="l"/>
              </a:tabLst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AS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IN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Passionate</a:t>
            </a:r>
            <a:r>
              <a:rPr lang="en-IN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</a:t>
            </a:r>
            <a:r>
              <a:rPr lang="en-IN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“Data</a:t>
            </a:r>
            <a:r>
              <a:rPr lang="en-IN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insight”</a:t>
            </a:r>
          </a:p>
          <a:p>
            <a:pPr marL="12699">
              <a:lnSpc>
                <a:spcPts val="2735"/>
              </a:lnSpc>
              <a:tabLst>
                <a:tab pos="413384" algn="l"/>
              </a:tabLst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65"/>
              </a:lnSpc>
              <a:buFont typeface="Wingdings" panose="05000000000000000000" pitchFamily="2" charset="2"/>
              <a:buChar char="q"/>
              <a:tabLst>
                <a:tab pos="337185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  <a:r>
              <a:rPr lang="en-IN" sz="2400" b="1" spc="-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ts val="2870"/>
              </a:lnSpc>
              <a:spcBef>
                <a:spcPts val="45"/>
              </a:spcBef>
            </a:pPr>
            <a:r>
              <a:rPr lang="en-IN"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www.linkedin.com/in/kandela-vamshi-2b4457258</a:t>
            </a:r>
            <a:endParaRPr lang="en-IN" sz="2400" b="1" u="sng" spc="-10" dirty="0">
              <a:solidFill>
                <a:srgbClr val="0462C1"/>
              </a:solidFill>
              <a:uFill>
                <a:solidFill>
                  <a:srgbClr val="0462C1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indent="-342900">
              <a:lnSpc>
                <a:spcPts val="2870"/>
              </a:lnSpc>
              <a:spcBef>
                <a:spcPts val="45"/>
              </a:spcBef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4" indent="-400685">
              <a:lnSpc>
                <a:spcPts val="2870"/>
              </a:lnSpc>
              <a:buFont typeface="Wingdings" panose="05000000000000000000" pitchFamily="2" charset="2"/>
              <a:buChar char="q"/>
              <a:tabLst>
                <a:tab pos="413384" algn="l"/>
              </a:tabLst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4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spcBef>
                <a:spcPts val="50"/>
              </a:spcBef>
              <a:tabLst>
                <a:tab pos="241935" algn="l"/>
              </a:tabLst>
            </a:pPr>
            <a:r>
              <a:rPr lang="en-IN" sz="2400" b="1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IN" sz="2400" b="1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https://github.com/Vamshikandela/Vamshikandela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427656" y="416554"/>
            <a:ext cx="6099463" cy="495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Lato Black"/>
              <a:buNone/>
            </a:pPr>
            <a:r>
              <a:rPr lang="en-IN" sz="3200" b="0" i="0" u="none" strike="noStrike" cap="none">
                <a:solidFill>
                  <a:srgbClr val="FF0000"/>
                </a:solidFill>
                <a:latin typeface="Lato Black"/>
                <a:ea typeface="Lato Black"/>
                <a:cs typeface="Lato Black"/>
                <a:sym typeface="Lato Black"/>
              </a:rPr>
              <a:t>About me</a:t>
            </a:r>
            <a:endParaRPr sz="1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sz="3200" b="1" dirty="0">
                <a:solidFill>
                  <a:srgbClr val="FF0000"/>
                </a:solidFill>
              </a:rPr>
              <a:t>Agenda</a:t>
            </a:r>
            <a:endParaRPr sz="3200" b="1" dirty="0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278480" y="1040383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of the Project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Modules Used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and Data Understanding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Preprocessing(Cleaning)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pPr indent="-431800"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Evaluation(Hypothesis Testing)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(Key finding overall) </a:t>
            </a:r>
          </a:p>
          <a:p>
            <a:pPr marL="45720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Wingdings" panose="05000000000000000000" pitchFamily="2" charset="2"/>
              <a:buChar char="Ø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7290E-956D-6787-050D-7CEF2BD48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1333FF-5EE1-47C0-B7EC-5A5AE81BD592}"/>
              </a:ext>
            </a:extLst>
          </p:cNvPr>
          <p:cNvSpPr txBox="1"/>
          <p:nvPr/>
        </p:nvSpPr>
        <p:spPr>
          <a:xfrm>
            <a:off x="816634" y="1512410"/>
            <a:ext cx="1076001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traveller wants to plan an international vacation but prefers destinations that fall within a comfortable temperature range Weather conditions vary significantly across countries and seasons, making it difficult to manually evaluate which country is suitable at a given time 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Time-and-date websites provide historical and current weather data (date-wise temperature records), but this data is: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across multiple pages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Time-dependent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1845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AD1C4-880D-EACC-B005-E6E22C777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PROBLEM</a:t>
            </a:r>
            <a:br>
              <a:rPr lang="en-IN" sz="2400" dirty="0"/>
            </a:br>
            <a:endParaRPr lang="en-IN" sz="2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3209E-3A02-0255-9310-D72E398E3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950" y="1114023"/>
            <a:ext cx="10960368" cy="509359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endParaRPr lang="en-IN" sz="2400" dirty="0"/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 recommendation platforms often suggest destinations without considering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historical climate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As a result: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Travelers experience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unexpected weather conditions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(extreme heat, extreme  cool).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travel experiences and dissatisfaction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cancellations increase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unfavorable climate during travel dates.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 bookings decrease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impacting customer loyalty and revenue.</a:t>
            </a:r>
          </a:p>
          <a:p>
            <a:pPr marL="11430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4624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C8E5E3-A6D8-CE61-0F19-FDFB667F88A3}"/>
              </a:ext>
            </a:extLst>
          </p:cNvPr>
          <p:cNvSpPr txBox="1"/>
          <p:nvPr/>
        </p:nvSpPr>
        <p:spPr>
          <a:xfrm>
            <a:off x="952500" y="457061"/>
            <a:ext cx="3619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PROJECT OBJECTIVE </a:t>
            </a:r>
            <a:endParaRPr lang="en-IN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9E0A3-C240-2DDA-2DDD-B36876E4C733}"/>
              </a:ext>
            </a:extLst>
          </p:cNvPr>
          <p:cNvSpPr txBox="1"/>
          <p:nvPr/>
        </p:nvSpPr>
        <p:spPr>
          <a:xfrm>
            <a:off x="682085" y="1172942"/>
            <a:ext cx="98933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Leverage historical and real-time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climate data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travel recommendations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destinations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traveller climate preferences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comfort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cancellations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caused by unfavourable weather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and repeat bookings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smarter personalization</a:t>
            </a:r>
          </a:p>
        </p:txBody>
      </p:sp>
    </p:spTree>
    <p:extLst>
      <p:ext uri="{BB962C8B-B14F-4D97-AF65-F5344CB8AC3E}">
        <p14:creationId xmlns:p14="http://schemas.microsoft.com/office/powerpoint/2010/main" val="41864878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F36AA4-B344-F599-CA93-38C9257C14EC}"/>
              </a:ext>
            </a:extLst>
          </p:cNvPr>
          <p:cNvSpPr txBox="1"/>
          <p:nvPr/>
        </p:nvSpPr>
        <p:spPr>
          <a:xfrm>
            <a:off x="842132" y="403602"/>
            <a:ext cx="60969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&amp; Modules Used</a:t>
            </a:r>
            <a:endParaRPr lang="en-IN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9E9FEA-AB31-844C-039F-8296AC17A284}"/>
              </a:ext>
            </a:extLst>
          </p:cNvPr>
          <p:cNvSpPr txBox="1"/>
          <p:nvPr/>
        </p:nvSpPr>
        <p:spPr>
          <a:xfrm>
            <a:off x="842131" y="1791885"/>
            <a:ext cx="7157394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Automation Tool (Dynamic Website Scraping)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 (Patterns Using Meta Characters 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  (Data Manipulation)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 (Visualization)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Matplotlib.pyplot (Visualization)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77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2C5C65-E60D-6804-ED2B-9C6814AF046B}"/>
              </a:ext>
            </a:extLst>
          </p:cNvPr>
          <p:cNvSpPr txBox="1"/>
          <p:nvPr/>
        </p:nvSpPr>
        <p:spPr>
          <a:xfrm>
            <a:off x="5716437" y="310552"/>
            <a:ext cx="80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EF6C67-0F9E-8B0A-AE3C-3D2908781DF6}"/>
              </a:ext>
            </a:extLst>
          </p:cNvPr>
          <p:cNvSpPr txBox="1"/>
          <p:nvPr/>
        </p:nvSpPr>
        <p:spPr>
          <a:xfrm>
            <a:off x="-119791" y="1023034"/>
            <a:ext cx="6896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Added  Features 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49EF55-C9E9-E8CD-58BB-10A1301309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647" y="1643183"/>
            <a:ext cx="5283548" cy="37034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6E98F29-6BFD-CF7D-3BD4-B810FE383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5778" y="846347"/>
            <a:ext cx="3451996" cy="4835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084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9E6350-AA7F-AF2C-5FC7-B48AFE149BFE}"/>
              </a:ext>
            </a:extLst>
          </p:cNvPr>
          <p:cNvSpPr txBox="1"/>
          <p:nvPr/>
        </p:nvSpPr>
        <p:spPr>
          <a:xfrm>
            <a:off x="644106" y="465826"/>
            <a:ext cx="93682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WITH SCRAPING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450F9F-B666-5631-8D52-0707E57AD1EF}"/>
              </a:ext>
            </a:extLst>
          </p:cNvPr>
          <p:cNvSpPr txBox="1"/>
          <p:nvPr/>
        </p:nvSpPr>
        <p:spPr>
          <a:xfrm>
            <a:off x="598097" y="1092058"/>
            <a:ext cx="1068525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Inconsistent and missing temperature data across cities and time slots.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website behaviour causes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data updates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scraped data must be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stored immediately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prevent changes or loss.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features are not always available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during scraping, leading to incomplete records.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restrictions and dynamic content make automated data collection challenging.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is required due to differences in formats, units, and time zones.</a:t>
            </a:r>
          </a:p>
        </p:txBody>
      </p:sp>
    </p:spTree>
    <p:extLst>
      <p:ext uri="{BB962C8B-B14F-4D97-AF65-F5344CB8AC3E}">
        <p14:creationId xmlns:p14="http://schemas.microsoft.com/office/powerpoint/2010/main" val="144528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251D7-BB17-F069-1E31-B8C90ED7F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853" y="-138022"/>
            <a:ext cx="10537166" cy="1799956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Data Collection and Data Understanding</a:t>
            </a:r>
            <a:br>
              <a:rPr lang="en-IN" sz="2800" b="1" dirty="0"/>
            </a:b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C25F70-3B1F-5FF4-BFF6-E0C89FA32527}"/>
              </a:ext>
            </a:extLst>
          </p:cNvPr>
          <p:cNvSpPr txBox="1"/>
          <p:nvPr/>
        </p:nvSpPr>
        <p:spPr>
          <a:xfrm>
            <a:off x="510397" y="1101262"/>
            <a:ext cx="10111596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Weather data was collected from an online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website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contains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temperature observations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cities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DESCRIPTION: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(°C)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Current temperature of the Capital City in Celsius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Day of the week when data was collected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Date of the week when data was collected (Derived)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Local time of temperature observation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(Derived using datetime logic)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Name of the  Capital City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Country Of Capital City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(Added via merge mapping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                                     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is derived from Time for Analysis   (Derived Column 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Time_Slot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Time_Slot  referes to (Morning,Afternoon,Evening,Night)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Coolest Temperature (Derived Using Condition )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744300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D0EBC6-6203-1141-9D1B-02A7ACDC0DF7}"/>
              </a:ext>
            </a:extLst>
          </p:cNvPr>
          <p:cNvSpPr txBox="1"/>
          <p:nvPr/>
        </p:nvSpPr>
        <p:spPr>
          <a:xfrm>
            <a:off x="228999" y="218536"/>
            <a:ext cx="1041024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USAGE: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input 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Further processed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visualization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in identifying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patterns across cities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SCRAPING: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Scraped real-time weather data from a public website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and Time website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consecutive days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Selenium Automation Tool  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have Extracted The Data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8337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4873C-80DB-C04B-5A53-104117D8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2800" b="1" dirty="0"/>
              <a:t>Data Preprocessing(Cleaning)</a:t>
            </a:r>
            <a:br>
              <a:rPr lang="en-IN" sz="2800" b="1" dirty="0"/>
            </a:br>
            <a:endParaRPr lang="en-IN" sz="2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41EE3B-7A2B-91A2-74D3-0E874CD535E2}"/>
              </a:ext>
            </a:extLst>
          </p:cNvPr>
          <p:cNvSpPr txBox="1"/>
          <p:nvPr/>
        </p:nvSpPr>
        <p:spPr>
          <a:xfrm>
            <a:off x="353221" y="1161686"/>
            <a:ext cx="6096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Process: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and removed: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(nulls)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Removed Country Columns Has 625 duplicated  values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Invalid date and time entries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Standardized: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format (datetime64)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format (HH:MM:SS)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Ensured consistent data types across all columns</a:t>
            </a:r>
          </a:p>
        </p:txBody>
      </p:sp>
    </p:spTree>
    <p:extLst>
      <p:ext uri="{BB962C8B-B14F-4D97-AF65-F5344CB8AC3E}">
        <p14:creationId xmlns:p14="http://schemas.microsoft.com/office/powerpoint/2010/main" val="703590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0080F4-0C5C-373C-986E-1E05F4C0717F}"/>
              </a:ext>
            </a:extLst>
          </p:cNvPr>
          <p:cNvSpPr txBox="1"/>
          <p:nvPr/>
        </p:nvSpPr>
        <p:spPr>
          <a:xfrm>
            <a:off x="338305" y="3008487"/>
            <a:ext cx="6032740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Feature Creation</a:t>
            </a:r>
          </a:p>
          <a:p>
            <a:pPr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Extracted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Time column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Categorized time into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Time_Slot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better interpretation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Defined time slots as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: (Morning, Afternoon, Evening, Night)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 Column Creation</a:t>
            </a:r>
          </a:p>
          <a:p>
            <a:pPr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is created to identify time periods with comparatively lower temperatures.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8F75B5-2D63-D74D-7415-2EE4C7731C70}"/>
              </a:ext>
            </a:extLst>
          </p:cNvPr>
          <p:cNvSpPr txBox="1"/>
          <p:nvPr/>
        </p:nvSpPr>
        <p:spPr>
          <a:xfrm>
            <a:off x="275045" y="105881"/>
            <a:ext cx="609600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Features</a:t>
            </a:r>
          </a:p>
          <a:p>
            <a:pPr marR="0" algn="l" rtl="0">
              <a:buNone/>
            </a:pPr>
            <a:endParaRPr lang="en-IN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l" rtl="0">
              <a:buNone/>
            </a:pPr>
            <a:r>
              <a:rPr lang="en-IN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Date &amp; Time Engineering:</a:t>
            </a:r>
          </a:p>
          <a:p>
            <a:pPr marR="0" algn="l" rtl="0">
              <a:buNone/>
            </a:pP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Created a 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date column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using Python datetime module</a:t>
            </a: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l" rtl="0">
              <a:buFont typeface="Arial" panose="020B0604020202020204" pitchFamily="34" charset="0"/>
              <a:buChar char="•"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Mapped 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day names (Monday–Sunday)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to actual calendar</a:t>
            </a:r>
          </a:p>
          <a:p>
            <a:pPr marR="0" algn="l" rtl="0"/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457200" marR="0" algn="l" rtl="0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Date → datetime64 format</a:t>
            </a:r>
          </a:p>
          <a:p>
            <a:pPr marL="457200" marR="0" algn="l" rtl="0">
              <a:buNone/>
            </a:pP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algn="l" rtl="0">
              <a:buNone/>
            </a:pPr>
            <a:r>
              <a:rPr lang="en-IN" sz="16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Ensured accurate </a:t>
            </a:r>
            <a:r>
              <a:rPr lang="en-IN" sz="1600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rial" panose="020B0604020202020204" pitchFamily="34" charset="0"/>
                <a:cs typeface="Times New Roman" panose="02020603050405020304" pitchFamily="18" charset="0"/>
              </a:rPr>
              <a:t>day–date alignment</a:t>
            </a:r>
            <a:endParaRPr lang="en-IN" sz="1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176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475762-BF1C-B724-A3EA-6A34F31CC0FA}"/>
              </a:ext>
            </a:extLst>
          </p:cNvPr>
          <p:cNvSpPr txBox="1"/>
          <p:nvPr/>
        </p:nvSpPr>
        <p:spPr>
          <a:xfrm>
            <a:off x="299050" y="3618268"/>
            <a:ext cx="6096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Final Dataset Columns</a:t>
            </a:r>
          </a:p>
          <a:p>
            <a:pPr>
              <a:buNone/>
            </a:pPr>
            <a:r>
              <a:rPr lang="en-IN" sz="1600" b="1" dirty="0"/>
              <a:t>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Has 9 columns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Country Cities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(Capital City)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Temperature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(Derived feature)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Time_Slot 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(Derived feature)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 (Derived  feature)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2D0A3-7A99-FC71-A6AC-B37249609445}"/>
              </a:ext>
            </a:extLst>
          </p:cNvPr>
          <p:cNvSpPr txBox="1"/>
          <p:nvPr/>
        </p:nvSpPr>
        <p:spPr>
          <a:xfrm>
            <a:off x="155276" y="1189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17208C-F85A-D04D-9CC4-7E219EEF54A2}"/>
              </a:ext>
            </a:extLst>
          </p:cNvPr>
          <p:cNvSpPr txBox="1"/>
          <p:nvPr/>
        </p:nvSpPr>
        <p:spPr>
          <a:xfrm>
            <a:off x="299050" y="162211"/>
            <a:ext cx="609600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Pre-processed Global Weather Dataset: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dataset created after complete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all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and invalid records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dataset with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derived time-based features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is clean, structured, and analysis-ready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E1A388-08D2-0F50-B599-57518DD7E4C3}"/>
              </a:ext>
            </a:extLst>
          </p:cNvPr>
          <p:cNvSpPr txBox="1"/>
          <p:nvPr/>
        </p:nvSpPr>
        <p:spPr>
          <a:xfrm>
            <a:off x="299050" y="1950379"/>
            <a:ext cx="609600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 &amp; Structure: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records: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4,673 rows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attributes: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columns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Covers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countries and capital cities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over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consecutive days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34049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8B96E-D854-E2BD-674E-CB6E4C217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717" y="103517"/>
            <a:ext cx="9795294" cy="116169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Exploratory Data Analysis (EDA)</a:t>
            </a: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A64A0F-D1B9-B512-F932-F22F288EDA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724" y="779514"/>
            <a:ext cx="4882257" cy="44144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4E4792-2FB2-B10F-0636-1168842014BC}"/>
              </a:ext>
            </a:extLst>
          </p:cNvPr>
          <p:cNvSpPr txBox="1"/>
          <p:nvPr/>
        </p:nvSpPr>
        <p:spPr>
          <a:xfrm>
            <a:off x="378310" y="1322718"/>
            <a:ext cx="59867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Numerical Columns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7B8D23E7-3DC3-0FDA-6B5E-7B0F0C78E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92" y="2326388"/>
            <a:ext cx="7209012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broad spread of temperature values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varied climate conditions across different locations and time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bar heights and peaks in the KDE curve reveal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temperatures cluster within moderate ranges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representing commonly experienced and travel-friendly conditions.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thinner tails at both ends of the distribution indicate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extreme hot and cold temperatures are relatively rare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them less frequent travel scenarios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98624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2601704-DFA9-9EF5-ED7A-E722E0324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33" y="460075"/>
            <a:ext cx="5185184" cy="45828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19DAA14-1C1E-1E01-5D90-A6E17E6C870A}"/>
              </a:ext>
            </a:extLst>
          </p:cNvPr>
          <p:cNvSpPr txBox="1"/>
          <p:nvPr/>
        </p:nvSpPr>
        <p:spPr>
          <a:xfrm>
            <a:off x="552090" y="843677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Hour Distribution</a:t>
            </a:r>
          </a:p>
          <a:p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is spread across all hours of the day, indicating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weather observations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throughout the day.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Noticeable peaks during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morning and afternoon hours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suggest higher data concentration during active daytime periods.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KDE curve highlights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patterns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identify periods when temperature variations are more prominent.</a:t>
            </a:r>
          </a:p>
        </p:txBody>
      </p:sp>
    </p:spTree>
    <p:extLst>
      <p:ext uri="{BB962C8B-B14F-4D97-AF65-F5344CB8AC3E}">
        <p14:creationId xmlns:p14="http://schemas.microsoft.com/office/powerpoint/2010/main" val="5801509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9F1C36-ED26-DC3C-9FD3-B8B653068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434" y="500333"/>
            <a:ext cx="3568714" cy="44096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54FA04F-C2C4-A6F4-DA1A-840318445370}"/>
              </a:ext>
            </a:extLst>
          </p:cNvPr>
          <p:cNvSpPr txBox="1"/>
          <p:nvPr/>
        </p:nvSpPr>
        <p:spPr>
          <a:xfrm>
            <a:off x="235789" y="815796"/>
            <a:ext cx="6096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Box Plot – Key Insights</a:t>
            </a:r>
          </a:p>
          <a:p>
            <a:pPr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median temperature falls within a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range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indicating generally comfortable climate conditions.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temperature values are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tightly clustered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showing stable and consistent weather patterns.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few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extreme cold outliers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present, representing rare but unfavorable travel conditions.</a:t>
            </a:r>
          </a:p>
        </p:txBody>
      </p:sp>
    </p:spTree>
    <p:extLst>
      <p:ext uri="{BB962C8B-B14F-4D97-AF65-F5344CB8AC3E}">
        <p14:creationId xmlns:p14="http://schemas.microsoft.com/office/powerpoint/2010/main" val="1835852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FBE064-A12E-723F-0E3B-F5EED4AC7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5631" y="488830"/>
            <a:ext cx="4827538" cy="41871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4F83A0C-DBB8-C918-61EF-90667184772D}"/>
              </a:ext>
            </a:extLst>
          </p:cNvPr>
          <p:cNvSpPr txBox="1"/>
          <p:nvPr/>
        </p:nvSpPr>
        <p:spPr>
          <a:xfrm>
            <a:off x="437071" y="3349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Categorical  Columns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8FD54C-2878-76C0-F447-6F1602B715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908" y="1305110"/>
            <a:ext cx="556309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IN" sz="1800" b="1" dirty="0"/>
              <a:t>Top Days Distribution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While scraping the data,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records were captured on Wednesdays and Fridays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resulting in higher frequencies for these days.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Weekdays show more data entries compared to weekends, indicating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availability or updates were more consistent on working days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Very few records were scraped on Sundays, suggesting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limited data collection or reduced updates during weekends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458337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D32B49-0FFC-1265-49BB-999D30B3D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0399" y="258792"/>
            <a:ext cx="5593283" cy="4921882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8722C4-FCAF-CDA6-29D5-905DE285E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18" y="804230"/>
            <a:ext cx="5279366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Time_Slot Distribution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Most records were captured during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Morning and Afternoon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 slots, indicating higher data availability during daytime hours.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Evening and Late Night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show moderate frequencies, reflecting reduced but consistent data collection during these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Night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time slot has the lowest count, suggesting limited data scraping or fewer updates during late-night hours.</a:t>
            </a:r>
          </a:p>
        </p:txBody>
      </p:sp>
    </p:spTree>
    <p:extLst>
      <p:ext uri="{BB962C8B-B14F-4D97-AF65-F5344CB8AC3E}">
        <p14:creationId xmlns:p14="http://schemas.microsoft.com/office/powerpoint/2010/main" val="4154005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8FE1A6E-3081-A344-46DA-B4C693F6A4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1669"/>
          <a:stretch>
            <a:fillRect/>
          </a:stretch>
        </p:blipFill>
        <p:spPr>
          <a:xfrm>
            <a:off x="7269192" y="385314"/>
            <a:ext cx="4658265" cy="45168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CDA31B-D274-46A9-2079-9A3122BF0BB6}"/>
              </a:ext>
            </a:extLst>
          </p:cNvPr>
          <p:cNvSpPr txBox="1"/>
          <p:nvPr/>
        </p:nvSpPr>
        <p:spPr>
          <a:xfrm>
            <a:off x="718868" y="385314"/>
            <a:ext cx="360584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Bi-Variate Analysis:</a:t>
            </a:r>
          </a:p>
          <a:p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VS Categorical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283A95-F5C7-C6E6-C71B-2AA90B089D9F}"/>
              </a:ext>
            </a:extLst>
          </p:cNvPr>
          <p:cNvSpPr txBox="1"/>
          <p:nvPr/>
        </p:nvSpPr>
        <p:spPr>
          <a:xfrm>
            <a:off x="477328" y="1854657"/>
            <a:ext cx="5998234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 by Country – Key Insights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Saint Kitts and Nevis, Kiribati, and Aruba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 the highest average temperatures, indicating consistently warm tropical climates.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Hungary and Lesotho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record comparatively lower average temperatures, reflecting cooler or more moderate climate conditions.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variation across countries highlights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diverse climate profiles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the need for climate-based travel recommendations tailored to user comfort.</a:t>
            </a:r>
          </a:p>
        </p:txBody>
      </p:sp>
    </p:spTree>
    <p:extLst>
      <p:ext uri="{BB962C8B-B14F-4D97-AF65-F5344CB8AC3E}">
        <p14:creationId xmlns:p14="http://schemas.microsoft.com/office/powerpoint/2010/main" val="12551482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CE1416-F65E-501C-8B41-4AF96984D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039" y="245605"/>
            <a:ext cx="5453443" cy="448745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24AB4E5-AFE5-2C2C-3EC9-AC1F4F2D9CC5}"/>
              </a:ext>
            </a:extLst>
          </p:cNvPr>
          <p:cNvSpPr txBox="1"/>
          <p:nvPr/>
        </p:nvSpPr>
        <p:spPr>
          <a:xfrm>
            <a:off x="736120" y="228549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VS Numerical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A1DA5-1E04-8E26-26E6-60A60947E77B}"/>
              </a:ext>
            </a:extLst>
          </p:cNvPr>
          <p:cNvSpPr txBox="1"/>
          <p:nvPr/>
        </p:nvSpPr>
        <p:spPr>
          <a:xfrm>
            <a:off x="379562" y="1058172"/>
            <a:ext cx="64525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vs Hour – Key Insights</a:t>
            </a:r>
          </a:p>
          <a:p>
            <a:pPr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fluctuates across the day, showing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hourly variation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rather than a constant pattern.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temperatures are observed during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morning and late evening hours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higher values appear around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midday to afternoon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variations help identify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comfortable and cooler time slots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time-based travel planning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771513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055FB9-350C-F29B-ED94-6B9D90F963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880"/>
          <a:stretch>
            <a:fillRect/>
          </a:stretch>
        </p:blipFill>
        <p:spPr>
          <a:xfrm>
            <a:off x="6979238" y="523335"/>
            <a:ext cx="4976974" cy="31817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5C4CE7-0FA7-D33E-0592-912987FAD876}"/>
              </a:ext>
            </a:extLst>
          </p:cNvPr>
          <p:cNvSpPr txBox="1"/>
          <p:nvPr/>
        </p:nvSpPr>
        <p:spPr>
          <a:xfrm>
            <a:off x="569344" y="840010"/>
            <a:ext cx="60960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1.Temperature vs Coolest (−0.58)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negative correlation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temperature decreases, the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 indicator increases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Confirms that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 effectively captures comfortable temperature conditions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Temperature vs Hour (0.11)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weak positive relationship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slightly increases during later hours, but not strongly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alone is not sufficient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determine climate comfort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Hour vs Coolest (−0.02)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Almost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correlation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Coolest conditions are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strictly time-dependent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Reinforces the need for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temperature data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time-based assumptions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EF089-C90E-E758-4F0E-26AAC5CD1B7A}"/>
              </a:ext>
            </a:extLst>
          </p:cNvPr>
          <p:cNvSpPr txBox="1"/>
          <p:nvPr/>
        </p:nvSpPr>
        <p:spPr>
          <a:xfrm>
            <a:off x="488830" y="310551"/>
            <a:ext cx="5658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Multi-Variate Analysis</a:t>
            </a:r>
          </a:p>
        </p:txBody>
      </p:sp>
    </p:spTree>
    <p:extLst>
      <p:ext uri="{BB962C8B-B14F-4D97-AF65-F5344CB8AC3E}">
        <p14:creationId xmlns:p14="http://schemas.microsoft.com/office/powerpoint/2010/main" val="3879494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414F3E-A3EA-42A7-8FFF-BBF5A386B0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1" t="1776" b="-1"/>
          <a:stretch>
            <a:fillRect/>
          </a:stretch>
        </p:blipFill>
        <p:spPr>
          <a:xfrm>
            <a:off x="1144438" y="1201946"/>
            <a:ext cx="6516978" cy="4451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2804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E6F91-4211-B890-614D-B91931BB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30" y="230038"/>
            <a:ext cx="10432212" cy="1909314"/>
          </a:xfrm>
        </p:spPr>
        <p:txBody>
          <a:bodyPr>
            <a:normAutofit/>
          </a:bodyPr>
          <a:lstStyle/>
          <a:p>
            <a:r>
              <a:rPr lang="en-IN" dirty="0"/>
              <a:t>Evaluation(Hypothesis Testing)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B130BC-A834-1DE8-FA93-E50D2109FDBB}"/>
              </a:ext>
            </a:extLst>
          </p:cNvPr>
          <p:cNvSpPr txBox="1"/>
          <p:nvPr/>
        </p:nvSpPr>
        <p:spPr>
          <a:xfrm>
            <a:off x="586596" y="964670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Slot vs Temperature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15A3A-D555-1E65-CFD7-C0D4EC35B013}"/>
              </a:ext>
            </a:extLst>
          </p:cNvPr>
          <p:cNvSpPr txBox="1"/>
          <p:nvPr/>
        </p:nvSpPr>
        <p:spPr>
          <a:xfrm>
            <a:off x="586595" y="1492862"/>
            <a:ext cx="119274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</a:t>
            </a:r>
          </a:p>
          <a:p>
            <a:pPr algn="l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no significant difference in average temperature across different time slots (Morning, Afternoon, Evening, Night).</a:t>
            </a:r>
          </a:p>
          <a:p>
            <a:pPr algn="l">
              <a:buNone/>
            </a:pPr>
            <a:endParaRPr lang="en-IN" sz="18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</a:t>
            </a:r>
          </a:p>
          <a:p>
            <a:pPr algn="l">
              <a:buNone/>
            </a:pPr>
            <a:r>
              <a:rPr lang="en-IN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significant difference in average temperature across different time slots.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4D2BA70-6F16-6419-5771-92A1884E5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082" y="3360423"/>
            <a:ext cx="983411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one-way ANOVA 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performed to compare the average temperature across different time slots (Morning, Afternoon, Evening, Night).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test result showed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statistically significant difference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mean temperatures between at least one pair of time slots.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p-value was less than the significance level (α = 0.05)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 was rejected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confirming that temperature varies meaningfully across time slots.</a:t>
            </a:r>
          </a:p>
        </p:txBody>
      </p:sp>
    </p:spTree>
    <p:extLst>
      <p:ext uri="{BB962C8B-B14F-4D97-AF65-F5344CB8AC3E}">
        <p14:creationId xmlns:p14="http://schemas.microsoft.com/office/powerpoint/2010/main" val="36640523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38ECD1-BA4E-4CE2-AD37-23134BCDD2A0}"/>
              </a:ext>
            </a:extLst>
          </p:cNvPr>
          <p:cNvSpPr txBox="1"/>
          <p:nvPr/>
        </p:nvSpPr>
        <p:spPr>
          <a:xfrm>
            <a:off x="534836" y="904131"/>
            <a:ext cx="925902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    There is no significant difference in average temperature between Cities.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Hypothesis (H₁):    Average temperature differs significantly between Cities.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604FAF-9516-B5F4-B377-EB50CFAEB1CA}"/>
              </a:ext>
            </a:extLst>
          </p:cNvPr>
          <p:cNvSpPr txBox="1"/>
          <p:nvPr/>
        </p:nvSpPr>
        <p:spPr>
          <a:xfrm>
            <a:off x="350520" y="34903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City-Wise Temperature Difference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C1F9E6-B636-D2E0-B8C9-F218100AAD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24" y="2136339"/>
            <a:ext cx="8844951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one-way ANOVA test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conducted to compare the average temperatures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different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test results indicated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statistically significant difference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mean temperatures among the cities.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Since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p-value was less than the significance level (α = 0.05)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null hypothesis (H₀) was rejected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confirming that temperature varies significantly from city to city.</a:t>
            </a:r>
          </a:p>
        </p:txBody>
      </p:sp>
    </p:spTree>
    <p:extLst>
      <p:ext uri="{BB962C8B-B14F-4D97-AF65-F5344CB8AC3E}">
        <p14:creationId xmlns:p14="http://schemas.microsoft.com/office/powerpoint/2010/main" val="19778227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980965-643D-8847-D35A-B68B898B4719}"/>
              </a:ext>
            </a:extLst>
          </p:cNvPr>
          <p:cNvSpPr txBox="1"/>
          <p:nvPr/>
        </p:nvSpPr>
        <p:spPr>
          <a:xfrm>
            <a:off x="285750" y="34141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Night vs Day Temperature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52F35-9EBA-FD41-F080-40CF6615D634}"/>
              </a:ext>
            </a:extLst>
          </p:cNvPr>
          <p:cNvSpPr txBox="1"/>
          <p:nvPr/>
        </p:nvSpPr>
        <p:spPr>
          <a:xfrm>
            <a:off x="285750" y="862568"/>
            <a:ext cx="1049151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(H₀):    Night-time temperatures are not significantly lower than daytime temperatures.   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Alternative Hypothesis (H₁):    Night-time temperatures are significantly lower than daytime temperatures.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31FBE-FB7F-B377-C1FC-9D8BFD1C49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056" y="2274838"/>
            <a:ext cx="91612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statistical hypothesis test was conducted to compare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night-time and daytime average temperatures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test results showed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night-time temperatures are significantly lower than daytime temperatures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p-value was less than the significance level (α = 0.05)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null hypothesis (H₀) was rejected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supporting the alternative hypothesis.</a:t>
            </a:r>
          </a:p>
        </p:txBody>
      </p:sp>
    </p:spTree>
    <p:extLst>
      <p:ext uri="{BB962C8B-B14F-4D97-AF65-F5344CB8AC3E}">
        <p14:creationId xmlns:p14="http://schemas.microsoft.com/office/powerpoint/2010/main" val="25985467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1C8BC5-0C9B-0457-A92C-A56CFCC06FBD}"/>
              </a:ext>
            </a:extLst>
          </p:cNvPr>
          <p:cNvSpPr txBox="1"/>
          <p:nvPr/>
        </p:nvSpPr>
        <p:spPr>
          <a:xfrm>
            <a:off x="373811" y="845633"/>
            <a:ext cx="96673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buNone/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varies significantly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hour of the day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cooler periods in early morning and late evening and warmer conditions around midday.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temperature differs notably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countries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highlighting diverse climate profiles ranging from cooler regions to consistently warm destinations.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time-based and location-based temperature patterns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important for identifying comfortable travel conditions.</a:t>
            </a:r>
          </a:p>
          <a:p>
            <a:pPr>
              <a:buNone/>
            </a:pP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371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8B6C13-611A-F75B-2500-D4738279920F}"/>
              </a:ext>
            </a:extLst>
          </p:cNvPr>
          <p:cNvSpPr txBox="1"/>
          <p:nvPr/>
        </p:nvSpPr>
        <p:spPr>
          <a:xfrm>
            <a:off x="327804" y="856891"/>
            <a:ext cx="10374701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 &amp; Suggestions: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moderate-average temperature countries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(such as Hungary, Lesotho, and Norway) to travellers seeking comfortable and less extreme weather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Suggest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warm-average temperature destinations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(such as Aruba, Kiribati, and Saint Kitts and Nevis) for users who prefer tropical climates, along with guidance on suitable travel times.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average temperature profiles to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 destination recommendations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aligning traveller preferences with climate comfort and reducing weather-related dissatisfaction.</a:t>
            </a:r>
          </a:p>
        </p:txBody>
      </p:sp>
    </p:spTree>
    <p:extLst>
      <p:ext uri="{BB962C8B-B14F-4D97-AF65-F5344CB8AC3E}">
        <p14:creationId xmlns:p14="http://schemas.microsoft.com/office/powerpoint/2010/main" val="1110493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85EF147-3D21-078C-DEAC-498FE36F9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53" y="519353"/>
            <a:ext cx="10448897" cy="549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452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1860</Words>
  <Application>Microsoft Office PowerPoint</Application>
  <PresentationFormat>Widescreen</PresentationFormat>
  <Paragraphs>290</Paragraphs>
  <Slides>30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Calibri</vt:lpstr>
      <vt:lpstr>Arial</vt:lpstr>
      <vt:lpstr>Times New Roman</vt:lpstr>
      <vt:lpstr>Libre Baskerville</vt:lpstr>
      <vt:lpstr>Wingdings</vt:lpstr>
      <vt:lpstr>Lato Black</vt:lpstr>
      <vt:lpstr>Office Theme</vt:lpstr>
      <vt:lpstr>PowerPoint Presentation</vt:lpstr>
      <vt:lpstr>PowerPoint Presentation</vt:lpstr>
      <vt:lpstr>Agenda</vt:lpstr>
      <vt:lpstr>PROBLEM</vt:lpstr>
      <vt:lpstr>BUSINESS PROBLEM </vt:lpstr>
      <vt:lpstr>PowerPoint Presentation</vt:lpstr>
      <vt:lpstr>PowerPoint Presentation</vt:lpstr>
      <vt:lpstr>PowerPoint Presentation</vt:lpstr>
      <vt:lpstr>PowerPoint Presentation</vt:lpstr>
      <vt:lpstr>Data Collection and Data Understanding </vt:lpstr>
      <vt:lpstr>PowerPoint Presentation</vt:lpstr>
      <vt:lpstr>Data Preprocessing(Cleaning) </vt:lpstr>
      <vt:lpstr>PowerPoint Presentation</vt:lpstr>
      <vt:lpstr>PowerPoint Presentation</vt:lpstr>
      <vt:lpstr>Exploratory Data Analysis (EDA)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Evaluation(Hypothesis Testing)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prashanth kandela</cp:lastModifiedBy>
  <cp:revision>34</cp:revision>
  <cp:lastPrinted>2025-12-24T10:28:03Z</cp:lastPrinted>
  <dcterms:created xsi:type="dcterms:W3CDTF">2021-02-16T05:19:01Z</dcterms:created>
  <dcterms:modified xsi:type="dcterms:W3CDTF">2026-01-31T02:04:11Z</dcterms:modified>
</cp:coreProperties>
</file>